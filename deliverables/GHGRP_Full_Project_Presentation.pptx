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Really Drives U.S.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Industrial GHG Emissions?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analysis: structural change vs. atmospheric forcing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EPA GHGRP (2010–2023)  ·  ERA5 Reanalysis  ·  OWID / Global Carbon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86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−22%
</a:t>
            </a:r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since 2011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337560" y="4572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DA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86,000
</a:t>
            </a:r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facility-year obs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0" y="4572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FA8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R²=0.88
</a:t>
            </a:r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ML model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915400" y="45720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−0.003
</a:t>
            </a:r>
            <a:pPr indent="0" marL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climate's marginal value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D³ Institute Assessment   |   Suhail Mahmud, PhD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&amp; The Data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atmospheric conditions drive U.S. industrial GHG emissions, or is the trend structural? We tested this at four levels of rigor — national, atmospheric correlation, fixed-effects panel, and predictive ML.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EPA GHGRP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Facility-level direct emissions, 2010–2023. 6,470 facilities in 2023, 86,000 facility-year obs in panel. Validated to 0.05% of EPA's published 2,580 MMt CO₂e headline.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219456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2423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ERA5 (ECMWF)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440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CONUS reanalysis from uploaded GRIB. Seven real atmospheric variables: temperature, dewpoint→VPD, RH, wind, surface pressure, SST, precipitation.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219456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25400">
            <a:solidFill>
              <a:srgbClr val="2DA1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423160"/>
            <a:ext cx="457200" cy="457200"/>
          </a:xfrm>
          <a:prstGeom prst="ellipse">
            <a:avLst/>
          </a:prstGeom>
          <a:solidFill>
            <a:srgbClr val="2DA17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A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OWID / GCP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03920" y="3474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national CO₂ and total-GHG context, live download. Cross-checks the GHGRP industrial subset against economy-wide totals.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datasets are real and verified. This work replaces an earlier draft that relied on fabricated atmospheric values.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arc: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5440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33172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trend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5440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060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 correlations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5440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6948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Facility-year panel (FE)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235440" y="54406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923544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38360" y="54864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— Emissions Fell 22%, Driven by the Power Sector</a:t>
            </a:r>
            <a:endParaRPr lang="en-US" sz="2800" dirty="0"/>
          </a:p>
        </p:txBody>
      </p:sp>
      <p:pic>
        <p:nvPicPr>
          <p:cNvPr id="3" name="Image 0" descr="/home/claude/chart1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685800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findings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98080" y="182880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6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3,318 → 2,579 MMt
</a:t>
            </a:r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(2011) to 2023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498080" y="269748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6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−740 MMt
</a:t>
            </a:r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reduction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98080" y="356616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6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= −0.93
</a:t>
            </a:r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Spearman, p&lt;0.0001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498080" y="443484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86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−54.9 MMt/yr
</a:t>
            </a:r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trend, R²=0.90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 0.05% of EPA's published 2023 headline (2,579 vs. 2,580 MMt CO₂e).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Cuts Came From: Power Sector Decarbonization</a:t>
            </a:r>
            <a:endParaRPr lang="en-US" sz="2600" dirty="0"/>
          </a:p>
        </p:txBody>
      </p:sp>
      <p:pic>
        <p:nvPicPr>
          <p:cNvPr id="3" name="Image 0" descr="/home/claude/chart2_se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685800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sectors say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98080" y="1828800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Plants: −34.5%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758 MMt cut — essentially the entire national decline. Coal-to-gas plus renewables.
</a:t>
            </a:r>
            <a:pPr indent="0" marL="0">
              <a:buNone/>
            </a:pPr>
            <a:r>
              <a:rPr lang="en-US" sz="1500" b="1" dirty="0">
                <a:solidFill>
                  <a:srgbClr val="E86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Oil &amp; Gas Systems: +9.5%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major sector that grew, reflecting expanded U.S. production.
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Metals −29%, Pulp/Paper −25%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but small in absolute terms.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Atmosphere Explains Little, Multicollinearity Explains Why</a:t>
            </a:r>
            <a:endParaRPr lang="en-US" sz="2400" dirty="0"/>
          </a:p>
        </p:txBody>
      </p:sp>
      <p:pic>
        <p:nvPicPr>
          <p:cNvPr id="3" name="Image 0" descr="/home/claude/heatmap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5943600" cy="5029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751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atmospheric result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675120" y="1783080"/>
            <a:ext cx="50292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7 ERA5 variables tested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VPD, RH, wind, precip, surface pressure, SST. None significant at p&lt;0.05.
</a:t>
            </a:r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Atmospheric model in-sample R² = 0.38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leave-one-out R² = </a:t>
            </a:r>
            <a:pPr indent="0" marL="0">
              <a:buNone/>
            </a:pPr>
            <a:r>
              <a:rPr lang="en-US" sz="1300" b="1" dirty="0">
                <a:solidFill>
                  <a:srgbClr val="E8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−4.67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worse than predicting the mean. No out-of-sample skill.
</a:t>
            </a:r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Why: severe multicollinearity
</a:t>
            </a:r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 ↔ Precip r = +0.88
VPD ↔ RH r = −0.70
Temp ↔ SST r = +0.56
</a:t>
            </a:r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 carry overlapping information; with only 14 years, more features hurt out-of-sample skill.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 — Fixed Effects Strip Out Spatial Confounding</a:t>
            </a:r>
            <a:endParaRPr lang="en-US" sz="2600" dirty="0"/>
          </a:p>
        </p:txBody>
      </p:sp>
      <p:pic>
        <p:nvPicPr>
          <p:cNvPr id="3" name="Image 0" descr="/home/claude/panel_fig1_con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70408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86k facility-years, 2011–2023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589520" y="178308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FE delivers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facility compared to itself across years, removing 'why it's located there' confounding.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 survives: </a:t>
            </a:r>
            <a:pPr indent="0" marL="0">
              <a:buNone/>
            </a:pPr>
            <a:r>
              <a:rPr lang="en-US" sz="1300" b="1" dirty="0">
                <a:solidFill>
                  <a:srgbClr val="E86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Power-plant summer temp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+0.111 std (p=0.0003), ≈ +7.5% emissions per +1°C. Plausible cooling-demand response.
</a:t>
            </a:r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O&amp;G 'VPD effect' collapses
</a:t>
            </a:r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+0.15 to −0.01 (p=0.47) — was pure Permian Basin geography.
</a:t>
            </a:r>
            <a:pPr indent="0" marL="0">
              <a:buNone/>
            </a:pPr>
            <a:r>
              <a:rPr lang="en-US" sz="1200" b="1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within-R² is still only 0.5%.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4 — Predictive ML: Structure Predicts, Climate Doesn't</a:t>
            </a:r>
            <a:endParaRPr lang="en-US" sz="2400" dirty="0"/>
          </a:p>
        </p:txBody>
      </p:sp>
      <p:pic>
        <p:nvPicPr>
          <p:cNvPr id="3" name="Image 0" descr="/home/claude/ml_fig1_mod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704088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952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Staged model R² (test=2023)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589520" y="1828800"/>
            <a:ext cx="4206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only: 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R²=0.37
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Climate: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R²=0.36 (Δ=</a:t>
            </a:r>
            <a:pPr indent="0" marL="0">
              <a:buNone/>
            </a:pPr>
            <a:r>
              <a:rPr lang="en-US" sz="1300" b="1" dirty="0">
                <a:solidFill>
                  <a:srgbClr val="E8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−0.003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+ Lag: </a:t>
            </a:r>
            <a:pPr indent="0" marL="0">
              <a:buNone/>
            </a:pPr>
            <a:r>
              <a:rPr lang="en-US" sz="1400" b="1" dirty="0">
                <a:solidFill>
                  <a:srgbClr val="2DA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R²=0.88
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Climate: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R²=0.88 (Δ=</a:t>
            </a:r>
            <a:pPr indent="0" marL="0">
              <a:buNone/>
            </a:pPr>
            <a:r>
              <a:rPr lang="en-US" sz="1300" b="1" dirty="0">
                <a:solidFill>
                  <a:srgbClr val="E8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−0.001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
</a:t>
            </a:r>
            <a:pPr indent="0" marL="0">
              <a:buNone/>
            </a:pPr>
            <a:r>
              <a:rPr lang="en-US" sz="1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Climate's marginal value is measured precisely as ~zero. Negative deltas = adding noise to the tree ensemble.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Predictive Power Actually Lives</a:t>
            </a:r>
            <a:endParaRPr lang="en-US" sz="2800" dirty="0"/>
          </a:p>
        </p:txBody>
      </p:sp>
      <p:pic>
        <p:nvPicPr>
          <p:cNvPr id="3" name="Image 0" descr="/home/claude/ml_fig2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114300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3949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classification dominates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(importance 0.51). Then geography (0.20). </a:t>
            </a:r>
            <a:pPr indent="0" marL="0">
              <a:buNone/>
            </a:pPr>
            <a:r>
              <a:rPr lang="en-US" sz="1300" b="1" dirty="0">
                <a:solidFill>
                  <a:srgbClr val="E86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scores 0.04 — but 0.035 of that is surface pressure, an elevation proxy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(Wyoming 818 hPa vs. coastal 1014 hPa). Real weather variables — temp, VPD, RH, wind — each contribute &lt;0.004.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Conclusion Holds at Every Level of Rigor</a:t>
            </a:r>
            <a:endParaRPr lang="en-US" sz="2800" dirty="0"/>
          </a:p>
        </p:txBody>
      </p:sp>
      <p:pic>
        <p:nvPicPr>
          <p:cNvPr id="3" name="Image 0" descr="/home/claude/arc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11704320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544068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5852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↓ 22%, structural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337560" y="544068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2044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Atmospheric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520440" y="5852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variable significant, LOO R² = −4.67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17920" y="544068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E8693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6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(FE)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5852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PP-temp survives (within-R² 0.5%)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098280" y="544068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2DA1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281160" y="5486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A1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281160" y="5852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Δ = −0.003 on R²=0.88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Real Data Tells 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66928" cy="566928"/>
          </a:xfrm>
          <a:prstGeom prst="ellipse">
            <a:avLst/>
          </a:prstGeom>
          <a:solidFill>
            <a:srgbClr val="E869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132588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Decline is real, large, and structural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75564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industrial emissions fell 22% (2011→2023), almost entirely from power-sector decarbonization. Validated to 0.05% of EPA's published headline.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566928" cy="566928"/>
          </a:xfrm>
          <a:prstGeom prst="ellipse">
            <a:avLst/>
          </a:prstGeom>
          <a:solidFill>
            <a:srgbClr val="E869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8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2532888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is a weak, secondary signal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17320" y="296265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atmospheric variable is significant at the national level. Multicollinearity, not insufficient features, is why adding more atmospheric data does not help.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85616"/>
            <a:ext cx="566928" cy="566928"/>
          </a:xfrm>
          <a:prstGeom prst="ellipse">
            <a:avLst/>
          </a:prstGeom>
          <a:solidFill>
            <a:srgbClr val="E869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856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3739896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 FE reveals one real exception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417320" y="4169664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Power-plant summer temperature has a genuine within-facility effect (+7.5%/°C, p=0.0003) — but within-R² is only 0.5%. The O&amp;G 'VPD effect' was confounding.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992624"/>
            <a:ext cx="566928" cy="566928"/>
          </a:xfrm>
          <a:prstGeom prst="ellipse">
            <a:avLst/>
          </a:prstGeom>
          <a:solidFill>
            <a:srgbClr val="E869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92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17320" y="4946904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proves climate adds nothing predictive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37667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model reaches R²=0.88. Climate's marginal contribution: −0.003. The apparent climate importance is mostly an elevation proxy in disguise.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2026-05-27T20:40:52Z</dcterms:created>
  <dcterms:modified xsi:type="dcterms:W3CDTF">2026-05-27T20:40:52Z</dcterms:modified>
</cp:coreProperties>
</file>